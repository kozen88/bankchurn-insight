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3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7" r:id="rId9"/>
    <p:sldId id="263" r:id="rId10"/>
    <p:sldId id="264" r:id="rId11"/>
    <p:sldId id="276" r:id="rId12"/>
    <p:sldId id="266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88"/>
    <p:restoredTop sz="94686"/>
  </p:normalViewPr>
  <p:slideViewPr>
    <p:cSldViewPr snapToGrid="0">
      <p:cViewPr varScale="1">
        <p:scale>
          <a:sx n="98" d="100"/>
          <a:sy n="98" d="100"/>
        </p:scale>
        <p:origin x="2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B9A8A-9759-E94A-890D-52C7F5048819}" type="datetimeFigureOut">
              <a:rPr lang="it-IT" smtClean="0"/>
              <a:t>16/10/25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8B97D-298F-E44C-9313-877BCC7D1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518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8B97D-298F-E44C-9313-877BCC7D1794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06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4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6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3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2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4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6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1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4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4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10/16/25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3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7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1EE5F5-2DFA-C905-2B20-BD541CF8E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529" y="629271"/>
            <a:ext cx="5797883" cy="2435756"/>
          </a:xfrm>
        </p:spPr>
        <p:txBody>
          <a:bodyPr anchor="b">
            <a:normAutofit fontScale="90000"/>
          </a:bodyPr>
          <a:lstStyle/>
          <a:p>
            <a:r>
              <a:rPr lang="it-IT" dirty="0">
                <a:solidFill>
                  <a:schemeClr val="tx2"/>
                </a:solidFill>
              </a:rPr>
              <a:t>Analisi dell’abbandono bancario</a:t>
            </a:r>
            <a:br>
              <a:rPr lang="it-IT" dirty="0">
                <a:solidFill>
                  <a:schemeClr val="tx2"/>
                </a:solidFill>
              </a:rPr>
            </a:br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60558F-E2BB-F60E-0B90-84EE75E98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741" y="3101166"/>
            <a:ext cx="6784622" cy="2338389"/>
          </a:xfrm>
        </p:spPr>
        <p:txBody>
          <a:bodyPr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Problema evitare l’abbandono dell’istituto bancario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Dati utilizzati csv proveniente dal database della banca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Metodologia applicata </a:t>
            </a:r>
            <a:r>
              <a:rPr lang="it-IT" dirty="0" err="1">
                <a:solidFill>
                  <a:schemeClr val="accent1"/>
                </a:solidFill>
              </a:rPr>
              <a:t>Crisp</a:t>
            </a:r>
            <a:r>
              <a:rPr lang="it-IT" dirty="0">
                <a:solidFill>
                  <a:schemeClr val="accent1"/>
                </a:solidFill>
              </a:rPr>
              <a:t>-DM</a:t>
            </a:r>
          </a:p>
        </p:txBody>
      </p:sp>
      <p:pic>
        <p:nvPicPr>
          <p:cNvPr id="4" name="Picture 3" descr="Vista dall’alto di uno spazio di lavoro verde menta con un computer portatile, un caffè, un blocco appunti, una penna, occhiali e mouse">
            <a:extLst>
              <a:ext uri="{FF2B5EF4-FFF2-40B4-BE49-F238E27FC236}">
                <a16:creationId xmlns:a16="http://schemas.microsoft.com/office/drawing/2014/main" id="{E0DB8BC4-3F6C-A3B7-98CB-6AB1CE3492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041"/>
          <a:stretch>
            <a:fillRect/>
          </a:stretch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42DB1A-36E6-14A2-2528-F07D7C8DF71D}"/>
              </a:ext>
            </a:extLst>
          </p:cNvPr>
          <p:cNvSpPr txBox="1"/>
          <p:nvPr/>
        </p:nvSpPr>
        <p:spPr>
          <a:xfrm>
            <a:off x="670485" y="5693810"/>
            <a:ext cx="10283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Università degli Studi di Bari Aldo Moro</a:t>
            </a: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Corso di Laurea in Data Science</a:t>
            </a:r>
          </a:p>
          <a:p>
            <a:pPr algn="ctr"/>
            <a:endParaRPr lang="it-IT" b="1" dirty="0">
              <a:solidFill>
                <a:schemeClr val="bg1"/>
              </a:solidFill>
            </a:endParaRP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Progetto per l’esame di Data Mining a cura del Data Scientist Diego Miccoli</a:t>
            </a:r>
          </a:p>
        </p:txBody>
      </p:sp>
      <p:pic>
        <p:nvPicPr>
          <p:cNvPr id="7" name="Immagine 6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4B8858D7-D5B5-841F-B440-8B744686A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61" y="536265"/>
            <a:ext cx="2049767" cy="20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3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904E70-C32C-4D17-A3F8-E91792889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32B43B-AEE0-4B1A-93E5-EDA309A23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3048000"/>
            <a:ext cx="1371600" cy="25483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3A8C79D-6A9F-E3C5-7520-55EC71E4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45" y="178196"/>
            <a:ext cx="5996619" cy="20641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 err="1">
                <a:solidFill>
                  <a:schemeClr val="accent1">
                    <a:lumMod val="75000"/>
                  </a:schemeClr>
                </a:solidFill>
              </a:rPr>
              <a:t>Bussiness</a:t>
            </a:r>
            <a:r>
              <a:rPr lang="en-US" sz="5200" dirty="0">
                <a:solidFill>
                  <a:schemeClr val="accent1">
                    <a:lumMod val="75000"/>
                  </a:schemeClr>
                </a:solidFill>
              </a:rPr>
              <a:t> Understanding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C90DEF-2DBB-E015-918E-14EBB2CF9AE9}"/>
              </a:ext>
            </a:extLst>
          </p:cNvPr>
          <p:cNvSpPr txBox="1"/>
          <p:nvPr/>
        </p:nvSpPr>
        <p:spPr>
          <a:xfrm>
            <a:off x="2602523" y="3201002"/>
            <a:ext cx="650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Ridurre del 30% il tasso di abbandono dei propri utenti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Avere dei segnali chiari che permettano di capire se un utente è prossimo all’abandono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Introdurre prodotti finanziari per evitare l’abbandono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ABEB8D1-F1CB-4AB9-8A8B-BC976C0D1D1D}"/>
              </a:ext>
            </a:extLst>
          </p:cNvPr>
          <p:cNvSpPr txBox="1"/>
          <p:nvPr/>
        </p:nvSpPr>
        <p:spPr>
          <a:xfrm>
            <a:off x="2602523" y="5177916"/>
            <a:ext cx="6098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Diminuzione del 10% nel prossimo semestre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Feedback cliente su proposta nuovi prodotti finanziari in caso il cliente sia a rischio abbandono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Fondo depositario con trend in crescita entro i prossimi 3 anni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EB88F32-0D98-37FA-E86E-9C4BD39D1FA3}"/>
              </a:ext>
            </a:extLst>
          </p:cNvPr>
          <p:cNvSpPr txBox="1"/>
          <p:nvPr/>
        </p:nvSpPr>
        <p:spPr>
          <a:xfrm>
            <a:off x="2803614" y="4623918"/>
            <a:ext cx="533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</a:rPr>
              <a:t>Criteri di valutazione del successo aziendale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4AB0825-D09B-12BA-2790-20E043B403DB}"/>
              </a:ext>
            </a:extLst>
          </p:cNvPr>
          <p:cNvSpPr txBox="1"/>
          <p:nvPr/>
        </p:nvSpPr>
        <p:spPr>
          <a:xfrm>
            <a:off x="2803614" y="279374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Obiettivi aziendale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14335E8-A3D4-789E-6470-A18D4D2EE96F}"/>
              </a:ext>
            </a:extLst>
          </p:cNvPr>
          <p:cNvSpPr txBox="1"/>
          <p:nvPr/>
        </p:nvSpPr>
        <p:spPr>
          <a:xfrm>
            <a:off x="2602523" y="1944662"/>
            <a:ext cx="6500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>
                    <a:lumMod val="50000"/>
                  </a:schemeClr>
                </a:solidFill>
              </a:rPr>
              <a:t>    Contesto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banca con considerevole tasso di abbondono dei clienti</a:t>
            </a:r>
            <a:endParaRPr lang="it-IT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Immagine 8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1AD36F0B-6B53-63CE-7579-DCC964E51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5190" y="3944215"/>
            <a:ext cx="3985819" cy="394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966E53-3C41-4F5A-A432-755BFE5D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2438400" cy="2438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7F75BB-A3CB-4161-B316-A2A9C88F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>
            <a:off x="10820400" y="3144779"/>
            <a:ext cx="1371600" cy="25483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FEEC910-50C0-07B5-8751-DC7E63D3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68" y="382031"/>
            <a:ext cx="7391400" cy="120449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5200" dirty="0" err="1">
                <a:solidFill>
                  <a:schemeClr val="accent1">
                    <a:lumMod val="75000"/>
                  </a:schemeClr>
                </a:solidFill>
              </a:rPr>
              <a:t>Bussiness</a:t>
            </a:r>
            <a:r>
              <a:rPr lang="en-US" sz="5200" dirty="0">
                <a:solidFill>
                  <a:schemeClr val="accent1">
                    <a:lumMod val="75000"/>
                  </a:schemeClr>
                </a:solidFill>
              </a:rPr>
              <a:t> Understanding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69487D4-2337-EAA3-BBE2-C6B1A4FD0489}"/>
              </a:ext>
            </a:extLst>
          </p:cNvPr>
          <p:cNvSpPr txBox="1"/>
          <p:nvPr/>
        </p:nvSpPr>
        <p:spPr>
          <a:xfrm>
            <a:off x="3517522" y="167203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Obiettivi di Data Mining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F5196F8-E180-30DA-EA79-AE55A2C3DD4E}"/>
              </a:ext>
            </a:extLst>
          </p:cNvPr>
          <p:cNvSpPr txBox="1"/>
          <p:nvPr/>
        </p:nvSpPr>
        <p:spPr>
          <a:xfrm>
            <a:off x="3516008" y="394053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</a:rPr>
              <a:t>Criteri di successo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B1FF47-E71C-4C57-02EB-83DFE0899C9B}"/>
              </a:ext>
            </a:extLst>
          </p:cNvPr>
          <p:cNvSpPr txBox="1"/>
          <p:nvPr/>
        </p:nvSpPr>
        <p:spPr>
          <a:xfrm>
            <a:off x="3048000" y="2122294"/>
            <a:ext cx="78454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Classificazione: distinguere e prevedere gli abbandoni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Cluster </a:t>
            </a:r>
            <a:r>
              <a:rPr lang="it-IT" dirty="0" err="1"/>
              <a:t>analysis</a:t>
            </a:r>
            <a:r>
              <a:rPr lang="it-IT" dirty="0"/>
              <a:t>: descrivere gruppi di clienti potenzialmente a rischio abbandono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Frequent pattern mining: trovare pattern di clienti potenzialmente  in fase di abbandono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6253D5D-76F8-0461-9A86-C011EFC939E3}"/>
              </a:ext>
            </a:extLst>
          </p:cNvPr>
          <p:cNvSpPr txBox="1"/>
          <p:nvPr/>
        </p:nvSpPr>
        <p:spPr>
          <a:xfrm>
            <a:off x="3048000" y="4304122"/>
            <a:ext cx="7544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Classificazione: ottenere un recall sull’abbandono del 85% e un ROC-AUC pari o superiore al 90%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Cluster </a:t>
            </a:r>
            <a:r>
              <a:rPr lang="it-IT" dirty="0" err="1">
                <a:solidFill>
                  <a:schemeClr val="accent1"/>
                </a:solidFill>
              </a:rPr>
              <a:t>analysis</a:t>
            </a:r>
            <a:r>
              <a:rPr lang="it-IT" dirty="0">
                <a:solidFill>
                  <a:schemeClr val="accent1"/>
                </a:solidFill>
              </a:rPr>
              <a:t>: ritrovare cluster con silhouette score del 60% oppure cluster che separino rispetto all’abbandono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Frequent pattern mining: regole con almeno supporto minimo del 0.03 e confidenza del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accent1"/>
              </a:solidFill>
            </a:endParaRPr>
          </a:p>
        </p:txBody>
      </p:sp>
      <p:pic>
        <p:nvPicPr>
          <p:cNvPr id="6" name="Immagine 5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90AA08DC-E1D9-703C-8401-9CF83CA15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690" y="5540219"/>
            <a:ext cx="2714354" cy="268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8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93985A-237C-4B4B-F9DD-73517A71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Data </a:t>
            </a:r>
            <a:r>
              <a:rPr lang="it-IT" dirty="0" err="1">
                <a:solidFill>
                  <a:schemeClr val="accent1">
                    <a:lumMod val="75000"/>
                  </a:schemeClr>
                </a:solidFill>
              </a:rPr>
              <a:t>Understanding</a:t>
            </a:r>
            <a:endParaRPr lang="it-IT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BA077FB-9FB4-B5DA-27FF-55CE29446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0ED0BE-0355-51D9-4F88-922F88D49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5334000" cy="3728613"/>
          </a:xfrm>
        </p:spPr>
        <p:txBody>
          <a:bodyPr>
            <a:normAutofit fontScale="92500" lnSpcReduction="20000"/>
          </a:bodyPr>
          <a:lstStyle/>
          <a:p>
            <a:r>
              <a:rPr lang="it-IT" sz="1800" dirty="0">
                <a:solidFill>
                  <a:schemeClr val="tx1"/>
                </a:solidFill>
              </a:rPr>
              <a:t>Csv inerente database bancario</a:t>
            </a:r>
          </a:p>
          <a:p>
            <a:r>
              <a:rPr lang="it-IT" sz="1800" dirty="0">
                <a:solidFill>
                  <a:schemeClr val="tx1"/>
                </a:solidFill>
              </a:rPr>
              <a:t>Feature categoriche ’’stringa’’</a:t>
            </a:r>
          </a:p>
          <a:p>
            <a:r>
              <a:rPr lang="it-IT" sz="1800" dirty="0">
                <a:solidFill>
                  <a:schemeClr val="tx1"/>
                </a:solidFill>
              </a:rPr>
              <a:t>Feature numeriche ‘’intere’’ e ‘’continue’’</a:t>
            </a:r>
          </a:p>
          <a:p>
            <a:r>
              <a:rPr lang="it-IT" sz="1800" dirty="0">
                <a:solidFill>
                  <a:schemeClr val="tx2"/>
                </a:solidFill>
              </a:rPr>
              <a:t>Feature da eliminare codice cliente</a:t>
            </a:r>
          </a:p>
          <a:p>
            <a:r>
              <a:rPr lang="it-IT" sz="1800" dirty="0">
                <a:solidFill>
                  <a:schemeClr val="tx2"/>
                </a:solidFill>
              </a:rPr>
              <a:t>Assenza di </a:t>
            </a:r>
            <a:r>
              <a:rPr lang="it-IT" sz="1800" dirty="0" err="1">
                <a:solidFill>
                  <a:schemeClr val="tx2"/>
                </a:solidFill>
              </a:rPr>
              <a:t>missing</a:t>
            </a:r>
            <a:r>
              <a:rPr lang="it-IT" sz="1800" dirty="0">
                <a:solidFill>
                  <a:schemeClr val="tx2"/>
                </a:solidFill>
              </a:rPr>
              <a:t> data</a:t>
            </a:r>
          </a:p>
          <a:p>
            <a:r>
              <a:rPr lang="it-IT" sz="1800" dirty="0">
                <a:solidFill>
                  <a:schemeClr val="tx2"/>
                </a:solidFill>
              </a:rPr>
              <a:t>Presenza di </a:t>
            </a:r>
            <a:r>
              <a:rPr lang="it-IT" sz="1800" dirty="0" err="1">
                <a:solidFill>
                  <a:schemeClr val="tx2"/>
                </a:solidFill>
              </a:rPr>
              <a:t>outliers</a:t>
            </a:r>
            <a:endParaRPr lang="it-IT" sz="1800" dirty="0">
              <a:solidFill>
                <a:schemeClr val="tx2"/>
              </a:solidFill>
            </a:endParaRPr>
          </a:p>
          <a:p>
            <a:r>
              <a:rPr lang="it-IT" sz="1800" dirty="0">
                <a:solidFill>
                  <a:schemeClr val="tx2"/>
                </a:solidFill>
              </a:rPr>
              <a:t>Presenza di alte correlazioni lineari Pearson idx</a:t>
            </a:r>
          </a:p>
          <a:p>
            <a:r>
              <a:rPr lang="it-IT" sz="1800" dirty="0">
                <a:solidFill>
                  <a:schemeClr val="tx2"/>
                </a:solidFill>
              </a:rPr>
              <a:t>Correlazione forte tra variabili categoriche </a:t>
            </a:r>
            <a:r>
              <a:rPr lang="it-IT" sz="1800" dirty="0" err="1">
                <a:solidFill>
                  <a:schemeClr val="tx2"/>
                </a:solidFill>
              </a:rPr>
              <a:t>Cramer’s</a:t>
            </a:r>
            <a:r>
              <a:rPr lang="it-IT" sz="1800" dirty="0">
                <a:solidFill>
                  <a:schemeClr val="tx2"/>
                </a:solidFill>
              </a:rPr>
              <a:t> V idx</a:t>
            </a:r>
          </a:p>
          <a:p>
            <a:r>
              <a:rPr lang="it-IT" sz="1800" dirty="0">
                <a:solidFill>
                  <a:schemeClr val="tx2"/>
                </a:solidFill>
              </a:rPr>
              <a:t>Forte sbilanciamento nella classe target 16% vs 84%</a:t>
            </a:r>
          </a:p>
        </p:txBody>
      </p:sp>
    </p:spTree>
    <p:extLst>
      <p:ext uri="{BB962C8B-B14F-4D97-AF65-F5344CB8AC3E}">
        <p14:creationId xmlns:p14="http://schemas.microsoft.com/office/powerpoint/2010/main" val="298808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quadrato, diagramma&#10;&#10;Il contenuto generato dall'IA potrebbe non essere corretto.">
            <a:extLst>
              <a:ext uri="{FF2B5EF4-FFF2-40B4-BE49-F238E27FC236}">
                <a16:creationId xmlns:a16="http://schemas.microsoft.com/office/drawing/2014/main" id="{0D0617BD-0DF4-AA4D-0D88-A744D311A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72" y="679087"/>
            <a:ext cx="9850055" cy="60291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0435DF-D5D0-FF51-F792-EFF6D323EDEA}"/>
              </a:ext>
            </a:extLst>
          </p:cNvPr>
          <p:cNvSpPr txBox="1"/>
          <p:nvPr/>
        </p:nvSpPr>
        <p:spPr>
          <a:xfrm>
            <a:off x="494676" y="56120"/>
            <a:ext cx="11587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</a:rPr>
              <a:t>Analisi della correlazione lineare tra variabili numeriche</a:t>
            </a:r>
          </a:p>
        </p:txBody>
      </p:sp>
    </p:spTree>
    <p:extLst>
      <p:ext uri="{BB962C8B-B14F-4D97-AF65-F5344CB8AC3E}">
        <p14:creationId xmlns:p14="http://schemas.microsoft.com/office/powerpoint/2010/main" val="3949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425E0DD4-5280-7632-2579-AC81D0A0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4" y="906905"/>
            <a:ext cx="6964943" cy="5613816"/>
          </a:xfrm>
          <a:prstGeom prst="rect">
            <a:avLst/>
          </a:prstGeom>
        </p:spPr>
      </p:pic>
      <p:pic>
        <p:nvPicPr>
          <p:cNvPr id="7" name="Immagine 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5A7EC56-754E-41C4-4335-E09FA2329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53" y="3429000"/>
            <a:ext cx="4998133" cy="308485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2C3510-6A01-8B83-E2E9-8E4B5F6F94CC}"/>
              </a:ext>
            </a:extLst>
          </p:cNvPr>
          <p:cNvSpPr txBox="1"/>
          <p:nvPr/>
        </p:nvSpPr>
        <p:spPr>
          <a:xfrm>
            <a:off x="1648917" y="199019"/>
            <a:ext cx="9368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Analisi della correlazione categorica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DA75F6A-8C24-9DCD-5636-7A091061EE2F}"/>
              </a:ext>
            </a:extLst>
          </p:cNvPr>
          <p:cNvSpPr txBox="1"/>
          <p:nvPr/>
        </p:nvSpPr>
        <p:spPr>
          <a:xfrm>
            <a:off x="7794884" y="1259174"/>
            <a:ext cx="42867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Variabili eliminate per alta correlazione di Pearson: </a:t>
            </a:r>
            <a:r>
              <a:rPr lang="it-IT" dirty="0" err="1">
                <a:solidFill>
                  <a:schemeClr val="bg1"/>
                </a:solidFill>
              </a:rPr>
              <a:t>costumer</a:t>
            </a:r>
            <a:r>
              <a:rPr lang="it-IT" dirty="0">
                <a:solidFill>
                  <a:schemeClr val="bg1"/>
                </a:solidFill>
              </a:rPr>
              <a:t> age, disponibilità residua e numero di transazioni totali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Variabili eliminate per alta correlazione di Cramer: Gender</a:t>
            </a:r>
          </a:p>
        </p:txBody>
      </p:sp>
    </p:spTree>
    <p:extLst>
      <p:ext uri="{BB962C8B-B14F-4D97-AF65-F5344CB8AC3E}">
        <p14:creationId xmlns:p14="http://schemas.microsoft.com/office/powerpoint/2010/main" val="251434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B24AA3F-EABA-C447-4400-85335D82E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57" y="1192527"/>
            <a:ext cx="4438130" cy="2504003"/>
          </a:xfrm>
          <a:prstGeom prst="rect">
            <a:avLst/>
          </a:prstGeom>
        </p:spPr>
      </p:pic>
      <p:pic>
        <p:nvPicPr>
          <p:cNvPr id="7" name="Immagine 6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AC4B927-CC70-618C-3419-1FE168330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046" y="1192528"/>
            <a:ext cx="4455397" cy="2504003"/>
          </a:xfrm>
          <a:prstGeom prst="rect">
            <a:avLst/>
          </a:prstGeom>
        </p:spPr>
      </p:pic>
      <p:pic>
        <p:nvPicPr>
          <p:cNvPr id="9" name="Immagine 8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25C3CA6-6D27-A640-796B-FF9EBEB1D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3" y="3892273"/>
            <a:ext cx="4438131" cy="2397758"/>
          </a:xfrm>
          <a:prstGeom prst="rect">
            <a:avLst/>
          </a:prstGeom>
        </p:spPr>
      </p:pic>
      <p:pic>
        <p:nvPicPr>
          <p:cNvPr id="11" name="Immagine 10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2AAEB732-FA6D-6455-50AE-55A2FA9C3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047" y="3892273"/>
            <a:ext cx="4455397" cy="2397758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6AEB581-E60A-FDF3-F961-5EA3792E759E}"/>
              </a:ext>
            </a:extLst>
          </p:cNvPr>
          <p:cNvSpPr txBox="1"/>
          <p:nvPr/>
        </p:nvSpPr>
        <p:spPr>
          <a:xfrm>
            <a:off x="472190" y="229415"/>
            <a:ext cx="112476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</a:rPr>
              <a:t>Gli </a:t>
            </a:r>
            <a:r>
              <a:rPr lang="it-IT" sz="2800" b="1" dirty="0" err="1">
                <a:solidFill>
                  <a:schemeClr val="bg1"/>
                </a:solidFill>
              </a:rPr>
              <a:t>Outliers</a:t>
            </a:r>
            <a:endParaRPr lang="it-IT" sz="28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Presenti oltre che nelle seguenti immagini anche in: limite del credito e nel numero totale di </a:t>
            </a:r>
            <a:r>
              <a:rPr lang="it-IT" dirty="0" err="1">
                <a:solidFill>
                  <a:schemeClr val="bg1"/>
                </a:solidFill>
              </a:rPr>
              <a:t>tansazioni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97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10BFBB11-69F8-EE4E-5481-450CEEA1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83" y="560665"/>
            <a:ext cx="3923726" cy="3144838"/>
          </a:xfrm>
          <a:prstGeom prst="rect">
            <a:avLst/>
          </a:prstGeom>
        </p:spPr>
      </p:pic>
      <p:pic>
        <p:nvPicPr>
          <p:cNvPr id="7" name="Immagine 6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96A92CD4-9586-3967-EF59-571719417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822" y="4075784"/>
            <a:ext cx="3028013" cy="2517657"/>
          </a:xfrm>
          <a:prstGeom prst="rect">
            <a:avLst/>
          </a:prstGeom>
        </p:spPr>
      </p:pic>
      <p:pic>
        <p:nvPicPr>
          <p:cNvPr id="9" name="Immagine 8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3132BB18-A83E-59A8-C9BA-7675E5F90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82" y="4068004"/>
            <a:ext cx="3923727" cy="2517657"/>
          </a:xfrm>
          <a:prstGeom prst="rect">
            <a:avLst/>
          </a:prstGeom>
        </p:spPr>
      </p:pic>
      <p:pic>
        <p:nvPicPr>
          <p:cNvPr id="11" name="Immagine 10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6B156D9-BDD2-B6BC-A852-91B924519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002" y="4068004"/>
            <a:ext cx="3923727" cy="252543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1707A84-62DE-6F13-ADBC-8EB545C361A4}"/>
              </a:ext>
            </a:extLst>
          </p:cNvPr>
          <p:cNvSpPr txBox="1"/>
          <p:nvPr/>
        </p:nvSpPr>
        <p:spPr>
          <a:xfrm>
            <a:off x="4605002" y="282199"/>
            <a:ext cx="719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</a:rPr>
              <a:t>EDA sul sesso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01AF722-DF31-7572-CC62-AA9D02F2459B}"/>
              </a:ext>
            </a:extLst>
          </p:cNvPr>
          <p:cNvSpPr txBox="1"/>
          <p:nvPr/>
        </p:nvSpPr>
        <p:spPr>
          <a:xfrm>
            <a:off x="4605002" y="1177395"/>
            <a:ext cx="723983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Squilibri nel reddito annuo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Minore </a:t>
            </a:r>
            <a:r>
              <a:rPr lang="it-IT" sz="2000" dirty="0" err="1">
                <a:solidFill>
                  <a:schemeClr val="bg1"/>
                </a:solidFill>
              </a:rPr>
              <a:t>liquità</a:t>
            </a:r>
            <a:r>
              <a:rPr lang="it-IT" sz="2000" dirty="0">
                <a:solidFill>
                  <a:schemeClr val="bg1"/>
                </a:solidFill>
              </a:rPr>
              <a:t> nelle donne rispetto agli uomini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Maggiore credito da parte delle banche verso clienti uomini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ATTENZION! Nonostante il livello di istruzione maggiore nelle donne esse risultano svantaggiate economicamente rispetto agli uomini</a:t>
            </a:r>
            <a:br>
              <a:rPr lang="it-IT" dirty="0">
                <a:solidFill>
                  <a:schemeClr val="bg1"/>
                </a:solidFill>
              </a:rPr>
            </a:b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A78B720-622D-F601-425B-00A0AF5E5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637" y="1031059"/>
            <a:ext cx="3882451" cy="2862321"/>
          </a:xfrm>
          <a:prstGeom prst="rect">
            <a:avLst/>
          </a:prstGeom>
        </p:spPr>
      </p:pic>
      <p:pic>
        <p:nvPicPr>
          <p:cNvPr id="7" name="Immagine 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6D87AEC-DB04-C864-FEA9-41FAA8870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637" y="4234376"/>
            <a:ext cx="3882451" cy="2373779"/>
          </a:xfrm>
          <a:prstGeom prst="rect">
            <a:avLst/>
          </a:prstGeom>
        </p:spPr>
      </p:pic>
      <p:pic>
        <p:nvPicPr>
          <p:cNvPr id="9" name="Immagine 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4D6ADF2-23AF-B2EF-9DE4-259D92A20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63" y="4236076"/>
            <a:ext cx="3759200" cy="2381250"/>
          </a:xfrm>
          <a:prstGeom prst="rect">
            <a:avLst/>
          </a:prstGeom>
        </p:spPr>
      </p:pic>
      <p:pic>
        <p:nvPicPr>
          <p:cNvPr id="11" name="Immagine 10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1B0B708-445F-EE57-C9F4-6792D37B0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400" y="4234376"/>
            <a:ext cx="3759200" cy="23829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84A29E4-1B2F-AD72-AE68-9043B7070911}"/>
              </a:ext>
            </a:extLst>
          </p:cNvPr>
          <p:cNvSpPr txBox="1"/>
          <p:nvPr/>
        </p:nvSpPr>
        <p:spPr>
          <a:xfrm>
            <a:off x="258163" y="323174"/>
            <a:ext cx="8144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EDA su tipologia carta di credito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F89A55F-A0B7-A083-38BF-5586E8467AB1}"/>
              </a:ext>
            </a:extLst>
          </p:cNvPr>
          <p:cNvSpPr txBox="1"/>
          <p:nvPr/>
        </p:nvSpPr>
        <p:spPr>
          <a:xfrm>
            <a:off x="258163" y="1190763"/>
            <a:ext cx="7842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Profonde differenze tra gli utenti base-standard e clienti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Limiti crediti enormemente più alti per clienti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Attività differente: utenti base meno transazioni sia in numero che in quantità di denaro, mentre utenti premium hanno un numero maggiore di transazioni con ammontare maggioritari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La maggior parte dei clienti ha account con carte blue base-standard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Ridotte le percentuali degli utenti premium divisi in: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it-IT" dirty="0">
                <a:solidFill>
                  <a:schemeClr val="bg1"/>
                </a:solidFill>
              </a:rPr>
              <a:t>Silver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it-IT" dirty="0">
                <a:solidFill>
                  <a:schemeClr val="bg1"/>
                </a:solidFill>
              </a:rPr>
              <a:t>Gold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it-IT" dirty="0">
                <a:solidFill>
                  <a:schemeClr val="bg1"/>
                </a:solidFill>
              </a:rPr>
              <a:t>Platinum</a:t>
            </a:r>
          </a:p>
        </p:txBody>
      </p:sp>
    </p:spTree>
    <p:extLst>
      <p:ext uri="{BB962C8B-B14F-4D97-AF65-F5344CB8AC3E}">
        <p14:creationId xmlns:p14="http://schemas.microsoft.com/office/powerpoint/2010/main" val="401714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4787C57-ADF2-E7D3-3BBA-938A43DA9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82" y="5636303"/>
            <a:ext cx="3432622" cy="1106614"/>
          </a:xfrm>
          <a:prstGeom prst="rect">
            <a:avLst/>
          </a:prstGeom>
        </p:spPr>
      </p:pic>
      <p:pic>
        <p:nvPicPr>
          <p:cNvPr id="5" name="Immagine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230C459-D04C-52B9-2AEB-7084D1810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6" y="3924895"/>
            <a:ext cx="3424378" cy="1842203"/>
          </a:xfrm>
          <a:prstGeom prst="rect">
            <a:avLst/>
          </a:prstGeom>
        </p:spPr>
      </p:pic>
      <p:pic>
        <p:nvPicPr>
          <p:cNvPr id="9" name="Immagine 8" descr="Immagine che contiene testo, schermata, Carattere, nero&#10;&#10;Il contenuto generato dall'IA potrebbe non essere corretto.">
            <a:extLst>
              <a:ext uri="{FF2B5EF4-FFF2-40B4-BE49-F238E27FC236}">
                <a16:creationId xmlns:a16="http://schemas.microsoft.com/office/drawing/2014/main" id="{0F7500D3-4402-1232-44AD-7E0EB2589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357" y="5767099"/>
            <a:ext cx="3326682" cy="975817"/>
          </a:xfrm>
          <a:prstGeom prst="rect">
            <a:avLst/>
          </a:prstGeom>
        </p:spPr>
      </p:pic>
      <p:pic>
        <p:nvPicPr>
          <p:cNvPr id="11" name="Immagine 10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81B599B-8852-98AE-464A-921545993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600" y="3924895"/>
            <a:ext cx="3318439" cy="1842203"/>
          </a:xfrm>
          <a:prstGeom prst="rect">
            <a:avLst/>
          </a:prstGeom>
        </p:spPr>
      </p:pic>
      <p:pic>
        <p:nvPicPr>
          <p:cNvPr id="15" name="Immagine 1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F8C5D97-10D6-863C-D118-B0B794C52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921" y="5636303"/>
            <a:ext cx="3567353" cy="1106613"/>
          </a:xfrm>
          <a:prstGeom prst="rect">
            <a:avLst/>
          </a:prstGeom>
        </p:spPr>
      </p:pic>
      <p:pic>
        <p:nvPicPr>
          <p:cNvPr id="13" name="Immagine 12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F4B9BE5-868B-DBF5-B9E1-AA50828B3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920" y="3924895"/>
            <a:ext cx="3567353" cy="1842203"/>
          </a:xfrm>
          <a:prstGeom prst="rect">
            <a:avLst/>
          </a:prstGeom>
        </p:spPr>
      </p:pic>
      <p:pic>
        <p:nvPicPr>
          <p:cNvPr id="17" name="Immagine 16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417A4E5-232D-E5BC-A971-277D2D94D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423" y="1717611"/>
            <a:ext cx="3542739" cy="1946076"/>
          </a:xfrm>
          <a:prstGeom prst="rect">
            <a:avLst/>
          </a:prstGeom>
        </p:spPr>
      </p:pic>
      <p:pic>
        <p:nvPicPr>
          <p:cNvPr id="19" name="Immagine 1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02FB78B-45CA-87FD-4F33-3C405B9A00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8148" y="812280"/>
            <a:ext cx="3518125" cy="1810662"/>
          </a:xfrm>
          <a:prstGeom prst="rect">
            <a:avLst/>
          </a:prstGeom>
        </p:spPr>
      </p:pic>
      <p:pic>
        <p:nvPicPr>
          <p:cNvPr id="21" name="Immagine 2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C777D2C-6821-DC8B-7781-854D9DF2C1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8149" y="2622942"/>
            <a:ext cx="3542739" cy="91599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2097C6A-2564-BA5B-03C2-67DBD2D95462}"/>
              </a:ext>
            </a:extLst>
          </p:cNvPr>
          <p:cNvSpPr txBox="1"/>
          <p:nvPr/>
        </p:nvSpPr>
        <p:spPr>
          <a:xfrm>
            <a:off x="257482" y="163299"/>
            <a:ext cx="79747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</a:rPr>
              <a:t>Feature che mostrano significatività discriminatoria verso il target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A4DFD76-2E10-6E24-BAC4-2AD8A53FD833}"/>
              </a:ext>
            </a:extLst>
          </p:cNvPr>
          <p:cNvSpPr txBox="1"/>
          <p:nvPr/>
        </p:nvSpPr>
        <p:spPr>
          <a:xfrm>
            <a:off x="3921061" y="1487472"/>
            <a:ext cx="40973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Sembra che siano gli utenti premium ad avere più problemi con la banca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Il numero di contatti e l’inattività in base ai mesi del cliente per alcune categorie sono buoni predittori</a:t>
            </a:r>
          </a:p>
        </p:txBody>
      </p:sp>
    </p:spTree>
    <p:extLst>
      <p:ext uri="{BB962C8B-B14F-4D97-AF65-F5344CB8AC3E}">
        <p14:creationId xmlns:p14="http://schemas.microsoft.com/office/powerpoint/2010/main" val="258658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ermata, testo, Policromia&#10;&#10;Il contenuto generato dall'IA potrebbe non essere corretto.">
            <a:extLst>
              <a:ext uri="{FF2B5EF4-FFF2-40B4-BE49-F238E27FC236}">
                <a16:creationId xmlns:a16="http://schemas.microsoft.com/office/drawing/2014/main" id="{4616C962-14FB-0A84-72F7-5ADD31B3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07" y="3914978"/>
            <a:ext cx="5163236" cy="2594545"/>
          </a:xfrm>
          <a:prstGeom prst="rect">
            <a:avLst/>
          </a:prstGeom>
        </p:spPr>
      </p:pic>
      <p:pic>
        <p:nvPicPr>
          <p:cNvPr id="7" name="Immagine 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D0B58A8-17F7-AB65-858A-65EC75DF5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56" y="1047364"/>
            <a:ext cx="5163237" cy="2647652"/>
          </a:xfrm>
          <a:prstGeom prst="rect">
            <a:avLst/>
          </a:prstGeom>
        </p:spPr>
      </p:pic>
      <p:pic>
        <p:nvPicPr>
          <p:cNvPr id="9" name="Immagine 8" descr="Immagine che contiene diagramma, line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BC6CE6AA-E103-8C74-0D73-F1E13C71D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07" y="1047364"/>
            <a:ext cx="5163237" cy="2594545"/>
          </a:xfrm>
          <a:prstGeom prst="rect">
            <a:avLst/>
          </a:prstGeom>
        </p:spPr>
      </p:pic>
      <p:pic>
        <p:nvPicPr>
          <p:cNvPr id="11" name="Immagine 10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0B8E4F54-32B2-188B-F505-F2CD14B56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56" y="3914977"/>
            <a:ext cx="5163236" cy="259454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DA17EBB-14F4-B2FB-74CA-C8F98C882A2C}"/>
              </a:ext>
            </a:extLst>
          </p:cNvPr>
          <p:cNvSpPr txBox="1"/>
          <p:nvPr/>
        </p:nvSpPr>
        <p:spPr>
          <a:xfrm>
            <a:off x="288758" y="66409"/>
            <a:ext cx="11806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>
                    <a:lumMod val="95000"/>
                  </a:schemeClr>
                </a:solidFill>
              </a:rPr>
              <a:t>Differenza nella distribuzione degli abbandoni </a:t>
            </a:r>
          </a:p>
        </p:txBody>
      </p:sp>
    </p:spTree>
    <p:extLst>
      <p:ext uri="{BB962C8B-B14F-4D97-AF65-F5344CB8AC3E}">
        <p14:creationId xmlns:p14="http://schemas.microsoft.com/office/powerpoint/2010/main" val="311412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904E70-C32C-4D17-A3F8-E91792889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32B43B-AEE0-4B1A-93E5-EDA309A23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3048000"/>
            <a:ext cx="1371600" cy="25483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034CAED-022A-79C1-EF36-3778ED28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344" y="453144"/>
            <a:ext cx="5996619" cy="10109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>
                <a:solidFill>
                  <a:schemeClr val="accent1">
                    <a:lumMod val="75000"/>
                  </a:schemeClr>
                </a:solidFill>
              </a:rPr>
              <a:t>Cluster Analysis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82AA0B-7538-A72C-5C5D-0D283F93E954}"/>
              </a:ext>
            </a:extLst>
          </p:cNvPr>
          <p:cNvSpPr txBox="1"/>
          <p:nvPr/>
        </p:nvSpPr>
        <p:spPr>
          <a:xfrm>
            <a:off x="1828800" y="2292137"/>
            <a:ext cx="3432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Demografia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Comportamento/attività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Utilizzo carta/credito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Transazioni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CB3CF8-00E5-79DC-CEAC-D2FAC007211A}"/>
              </a:ext>
            </a:extLst>
          </p:cNvPr>
          <p:cNvSpPr txBox="1"/>
          <p:nvPr/>
        </p:nvSpPr>
        <p:spPr>
          <a:xfrm>
            <a:off x="2233240" y="1784254"/>
            <a:ext cx="3312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>
                    <a:lumMod val="50000"/>
                  </a:schemeClr>
                </a:solidFill>
              </a:rPr>
              <a:t>Cluster per settori logici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36E0E0-0EC1-9109-1493-43681D81C8CB}"/>
              </a:ext>
            </a:extLst>
          </p:cNvPr>
          <p:cNvSpPr txBox="1"/>
          <p:nvPr/>
        </p:nvSpPr>
        <p:spPr>
          <a:xfrm flipH="1">
            <a:off x="6186795" y="2355827"/>
            <a:ext cx="509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</a:rPr>
              <a:t>VS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CBC3BB4-E30E-1D56-0442-50454EA4B556}"/>
              </a:ext>
            </a:extLst>
          </p:cNvPr>
          <p:cNvSpPr txBox="1"/>
          <p:nvPr/>
        </p:nvSpPr>
        <p:spPr>
          <a:xfrm>
            <a:off x="8255833" y="178425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Cluster globale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7C9C53A-681E-8125-1C1E-20C139185483}"/>
              </a:ext>
            </a:extLst>
          </p:cNvPr>
          <p:cNvSpPr txBox="1"/>
          <p:nvPr/>
        </p:nvSpPr>
        <p:spPr>
          <a:xfrm>
            <a:off x="7522888" y="2281551"/>
            <a:ext cx="394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Usando tutte le feature assieme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B88143-948D-5E84-0042-CE86B682EC20}"/>
              </a:ext>
            </a:extLst>
          </p:cNvPr>
          <p:cNvSpPr txBox="1"/>
          <p:nvPr/>
        </p:nvSpPr>
        <p:spPr>
          <a:xfrm>
            <a:off x="4216771" y="3362338"/>
            <a:ext cx="4455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     </a:t>
            </a:r>
            <a:r>
              <a:rPr lang="it-IT" sz="2000" b="1" dirty="0" err="1"/>
              <a:t>Preprocessing</a:t>
            </a:r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Standardizzazione per numeriche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/>
              <a:t>OneHot</a:t>
            </a:r>
            <a:r>
              <a:rPr lang="it-IT" dirty="0"/>
              <a:t> Encoding per categoriche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DA4D29C-CA59-F3E5-CAF8-5E467E4EC261}"/>
              </a:ext>
            </a:extLst>
          </p:cNvPr>
          <p:cNvSpPr txBox="1"/>
          <p:nvPr/>
        </p:nvSpPr>
        <p:spPr>
          <a:xfrm>
            <a:off x="2440973" y="4559680"/>
            <a:ext cx="867860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Algoritmi di cluster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accent1"/>
                </a:solidFill>
              </a:rPr>
              <a:t>Kmeans</a:t>
            </a:r>
            <a:r>
              <a:rPr lang="it-IT" dirty="0">
                <a:solidFill>
                  <a:schemeClr val="accent1"/>
                </a:solidFill>
              </a:rPr>
              <a:t> vs </a:t>
            </a:r>
            <a:r>
              <a:rPr lang="it-IT" dirty="0" err="1">
                <a:solidFill>
                  <a:schemeClr val="accent1"/>
                </a:solidFill>
              </a:rPr>
              <a:t>Dbscan</a:t>
            </a:r>
            <a:r>
              <a:rPr lang="it-IT" dirty="0">
                <a:solidFill>
                  <a:schemeClr val="accent1"/>
                </a:solidFill>
              </a:rPr>
              <a:t>, con ottimizzazione dei parametri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Visualizzazione dei cluster con PCA e </a:t>
            </a:r>
            <a:r>
              <a:rPr lang="it-IT" dirty="0" err="1">
                <a:solidFill>
                  <a:schemeClr val="accent1"/>
                </a:solidFill>
              </a:rPr>
              <a:t>tsne</a:t>
            </a:r>
            <a:endParaRPr lang="it-IT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</a:rPr>
              <a:t>Metriche di valutazione: Silhouette score, Davies-</a:t>
            </a:r>
            <a:r>
              <a:rPr lang="it-IT" dirty="0" err="1">
                <a:solidFill>
                  <a:schemeClr val="accent1"/>
                </a:solidFill>
              </a:rPr>
              <a:t>Bouldin</a:t>
            </a:r>
            <a:r>
              <a:rPr lang="it-IT" dirty="0">
                <a:solidFill>
                  <a:schemeClr val="accent1"/>
                </a:solidFill>
              </a:rPr>
              <a:t> e </a:t>
            </a:r>
            <a:r>
              <a:rPr lang="it-IT" dirty="0" err="1">
                <a:solidFill>
                  <a:schemeClr val="accent1"/>
                </a:solidFill>
              </a:rPr>
              <a:t>Calinski-Harabasz</a:t>
            </a:r>
            <a:endParaRPr lang="it-IT" dirty="0">
              <a:solidFill>
                <a:schemeClr val="accent1"/>
              </a:solidFill>
            </a:endParaRPr>
          </a:p>
        </p:txBody>
      </p:sp>
      <p:pic>
        <p:nvPicPr>
          <p:cNvPr id="17" name="Immagine 16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07915FA8-9EAB-03D9-A43C-801B54ADF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688" y="3492466"/>
            <a:ext cx="2784623" cy="27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1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ermata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3A4971F-00ED-770A-0F24-6999B36E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974" y="1490466"/>
            <a:ext cx="7772400" cy="2463800"/>
          </a:xfrm>
          <a:prstGeom prst="rect">
            <a:avLst/>
          </a:prstGeom>
        </p:spPr>
      </p:pic>
      <p:pic>
        <p:nvPicPr>
          <p:cNvPr id="7" name="Immagine 6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E20F2206-BFF4-40F4-6B96-F96ECDC9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4" y="1490465"/>
            <a:ext cx="4025900" cy="2463800"/>
          </a:xfrm>
          <a:prstGeom prst="rect">
            <a:avLst/>
          </a:prstGeom>
        </p:spPr>
      </p:pic>
      <p:pic>
        <p:nvPicPr>
          <p:cNvPr id="9" name="Immagine 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D32DC25-18F2-6219-405C-3B16AEE7E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4" y="4135634"/>
            <a:ext cx="4025900" cy="2463800"/>
          </a:xfrm>
          <a:prstGeom prst="rect">
            <a:avLst/>
          </a:prstGeom>
        </p:spPr>
      </p:pic>
      <p:pic>
        <p:nvPicPr>
          <p:cNvPr id="11" name="Immagine 10" descr="Immagine che contiene diagramm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803F9506-EDD8-FD89-9F3A-440C38A90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975" y="4135634"/>
            <a:ext cx="7772399" cy="24638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39E6F65-85EA-9B67-720D-8406A14C7500}"/>
              </a:ext>
            </a:extLst>
          </p:cNvPr>
          <p:cNvSpPr txBox="1"/>
          <p:nvPr/>
        </p:nvSpPr>
        <p:spPr>
          <a:xfrm>
            <a:off x="2091024" y="104932"/>
            <a:ext cx="7435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</a:rPr>
              <a:t>Cluster su utilizzo carta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EAAA00-1E87-74B5-24F0-505655CBE48E}"/>
              </a:ext>
            </a:extLst>
          </p:cNvPr>
          <p:cNvSpPr txBox="1"/>
          <p:nvPr/>
        </p:nvSpPr>
        <p:spPr>
          <a:xfrm>
            <a:off x="30708" y="812818"/>
            <a:ext cx="50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Cluster0: clienti con alto limite di credito, alta disponibilità e utilizzo carta per acquisti basso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68469E6-BF29-DCDF-9682-5B8EBC8B0637}"/>
              </a:ext>
            </a:extLst>
          </p:cNvPr>
          <p:cNvSpPr txBox="1"/>
          <p:nvPr/>
        </p:nvSpPr>
        <p:spPr>
          <a:xfrm>
            <a:off x="5487233" y="828476"/>
            <a:ext cx="67047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chemeClr val="bg1">
                    <a:lumMod val="65000"/>
                  </a:schemeClr>
                </a:solidFill>
              </a:rPr>
              <a:t>Cluster1: clienti con basso limite di crediti, bassa disponibilità di spesa e utilizzo della carta per acquisti frequente</a:t>
            </a:r>
          </a:p>
        </p:txBody>
      </p:sp>
    </p:spTree>
    <p:extLst>
      <p:ext uri="{BB962C8B-B14F-4D97-AF65-F5344CB8AC3E}">
        <p14:creationId xmlns:p14="http://schemas.microsoft.com/office/powerpoint/2010/main" val="173757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A47C86DC-2299-33AD-8EC0-B1EFDF591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460" y="1634736"/>
            <a:ext cx="8069705" cy="24388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DDD75BA-5E60-CC9C-E934-FF2043412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461" y="4192550"/>
            <a:ext cx="8069705" cy="2438842"/>
          </a:xfrm>
          <a:prstGeom prst="rect">
            <a:avLst/>
          </a:prstGeom>
        </p:spPr>
      </p:pic>
      <p:pic>
        <p:nvPicPr>
          <p:cNvPr id="9" name="Immagine 8" descr="Immagine che contiene testo, schermata, Caratter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B50FA673-7B05-953C-AF52-1826F47D5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46" y="4192550"/>
            <a:ext cx="3485316" cy="2438842"/>
          </a:xfrm>
          <a:prstGeom prst="rect">
            <a:avLst/>
          </a:prstGeom>
        </p:spPr>
      </p:pic>
      <p:pic>
        <p:nvPicPr>
          <p:cNvPr id="11" name="Immagine 10" descr="Immagine che contiene testo, schermata, Carattere, menu&#10;&#10;Il contenuto generato dall'IA potrebbe non essere corretto.">
            <a:extLst>
              <a:ext uri="{FF2B5EF4-FFF2-40B4-BE49-F238E27FC236}">
                <a16:creationId xmlns:a16="http://schemas.microsoft.com/office/drawing/2014/main" id="{878293E2-6965-281D-A6E8-BC5C0397B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81" y="1634736"/>
            <a:ext cx="2930680" cy="243884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27A962B-BAD4-B1BE-C442-3BD88B0C92D6}"/>
              </a:ext>
            </a:extLst>
          </p:cNvPr>
          <p:cNvSpPr txBox="1"/>
          <p:nvPr/>
        </p:nvSpPr>
        <p:spPr>
          <a:xfrm>
            <a:off x="3255364" y="16746"/>
            <a:ext cx="568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</a:rPr>
              <a:t>Cluster su transazioni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14DD747-52D5-55E6-AE48-94338D0A2AE3}"/>
              </a:ext>
            </a:extLst>
          </p:cNvPr>
          <p:cNvSpPr txBox="1"/>
          <p:nvPr/>
        </p:nvSpPr>
        <p:spPr>
          <a:xfrm>
            <a:off x="191073" y="641559"/>
            <a:ext cx="118098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Cluster0</a:t>
            </a:r>
            <a:r>
              <a:rPr lang="it-IT" dirty="0">
                <a:solidFill>
                  <a:schemeClr val="bg1"/>
                </a:solidFill>
              </a:rPr>
              <a:t>: clienti con transazioni base in  frequenza e contante</a:t>
            </a:r>
          </a:p>
          <a:p>
            <a:r>
              <a:rPr lang="it-IT" b="1" dirty="0">
                <a:solidFill>
                  <a:schemeClr val="bg1"/>
                </a:solidFill>
              </a:rPr>
              <a:t>Cluster1</a:t>
            </a:r>
            <a:r>
              <a:rPr lang="it-IT" dirty="0">
                <a:solidFill>
                  <a:schemeClr val="bg1"/>
                </a:solidFill>
              </a:rPr>
              <a:t>: anomalie clienti con transazioni molto basse in frequenza e contante e variazioni nel quadrimestre</a:t>
            </a:r>
          </a:p>
          <a:p>
            <a:r>
              <a:rPr lang="it-IT" b="1" dirty="0">
                <a:solidFill>
                  <a:schemeClr val="bg1"/>
                </a:solidFill>
              </a:rPr>
              <a:t>Cluster2</a:t>
            </a:r>
            <a:r>
              <a:rPr lang="it-IT" dirty="0">
                <a:solidFill>
                  <a:schemeClr val="bg1"/>
                </a:solidFill>
              </a:rPr>
              <a:t>: clienti </a:t>
            </a:r>
            <a:r>
              <a:rPr lang="it-IT" dirty="0" err="1">
                <a:solidFill>
                  <a:schemeClr val="bg1"/>
                </a:solidFill>
              </a:rPr>
              <a:t>TopSpender</a:t>
            </a:r>
            <a:r>
              <a:rPr lang="it-IT" dirty="0">
                <a:solidFill>
                  <a:schemeClr val="bg1"/>
                </a:solidFill>
              </a:rPr>
              <a:t> con transazioni alte in frequenza e contante</a:t>
            </a:r>
          </a:p>
        </p:txBody>
      </p:sp>
    </p:spTree>
    <p:extLst>
      <p:ext uri="{BB962C8B-B14F-4D97-AF65-F5344CB8AC3E}">
        <p14:creationId xmlns:p14="http://schemas.microsoft.com/office/powerpoint/2010/main" val="376803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966E53-3C41-4F5A-A432-755BFE5D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2438400" cy="2438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7F75BB-A3CB-4161-B316-A2A9C88F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>
            <a:off x="10820400" y="3144779"/>
            <a:ext cx="1371600" cy="25483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5F2AF9E-C8A7-4934-EA49-292E9C681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63" y="76574"/>
            <a:ext cx="7391400" cy="1842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200" dirty="0">
                <a:solidFill>
                  <a:schemeClr val="accent1">
                    <a:lumMod val="75000"/>
                  </a:schemeClr>
                </a:solidFill>
              </a:rPr>
              <a:t>Frequent Pattern Mining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8832C3-F5AF-4753-5FB9-479FC1E6D63D}"/>
              </a:ext>
            </a:extLst>
          </p:cNvPr>
          <p:cNvSpPr txBox="1"/>
          <p:nvPr/>
        </p:nvSpPr>
        <p:spPr>
          <a:xfrm>
            <a:off x="3587979" y="1817711"/>
            <a:ext cx="68326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>
                    <a:lumMod val="50000"/>
                  </a:schemeClr>
                </a:solidFill>
              </a:rPr>
              <a:t>Preprocessing</a:t>
            </a:r>
            <a:endParaRPr lang="it-IT" sz="2000" b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Equalwidth</a:t>
            </a: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 bin &amp; </a:t>
            </a: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Equaldepth</a:t>
            </a: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 bin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OneHot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Encoding</a:t>
            </a:r>
            <a:endParaRPr lang="it-I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Booleaning</a:t>
            </a: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trasformation</a:t>
            </a: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 per compatibilità FP </a:t>
            </a: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growth</a:t>
            </a:r>
            <a:endParaRPr lang="it-IT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magine 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066629B3-5A0E-5FDE-5333-81E44065B0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3" y="3562025"/>
            <a:ext cx="3197978" cy="225415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08B217-F894-B4B6-9A35-F954312D2449}"/>
              </a:ext>
            </a:extLst>
          </p:cNvPr>
          <p:cNvSpPr txBox="1"/>
          <p:nvPr/>
        </p:nvSpPr>
        <p:spPr>
          <a:xfrm>
            <a:off x="3587979" y="3927908"/>
            <a:ext cx="68656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Algoritmo di estrazione dei pattern frequenti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FP-</a:t>
            </a:r>
            <a:r>
              <a:rPr lang="it-IT" dirty="0" err="1"/>
              <a:t>growth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E0364CE-7050-D13D-CA75-B74A4FD9088A}"/>
              </a:ext>
            </a:extLst>
          </p:cNvPr>
          <p:cNvSpPr txBox="1"/>
          <p:nvPr/>
        </p:nvSpPr>
        <p:spPr>
          <a:xfrm>
            <a:off x="3604456" y="5132093"/>
            <a:ext cx="6832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Criteri di selezione per regole di associazione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accent1"/>
                </a:solidFill>
              </a:rPr>
              <a:t>Supporto minimo estrazione dei pattern 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accent1"/>
                </a:solidFill>
              </a:rPr>
              <a:t>Confidenza regola associativa &gt; 80%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accent1"/>
                </a:solidFill>
              </a:rPr>
              <a:t>In alcuni casi si è utilizzato anche il lift</a:t>
            </a:r>
            <a:endParaRPr lang="it-IT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483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F6D05D-2AF4-C752-B7F3-E9B9207F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000" dirty="0"/>
              <a:t>Regole Associative Forti Ritrovate</a:t>
            </a:r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49D304A-CF6F-91CC-08E0-8D52F032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2" y="1691323"/>
            <a:ext cx="4935444" cy="2356529"/>
          </a:xfrm>
          <a:prstGeom prst="rect">
            <a:avLst/>
          </a:prstGeom>
        </p:spPr>
      </p:pic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8437645-4D62-08BB-5F2C-DFEA675E3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92071"/>
            <a:ext cx="5504328" cy="2297019"/>
          </a:xfrm>
          <a:prstGeom prst="rect">
            <a:avLst/>
          </a:prstGeom>
        </p:spPr>
      </p:pic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4FC539A7-321F-897B-4090-124F21043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72" y="4392071"/>
            <a:ext cx="4935444" cy="229701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E9A24A0C-59F5-2673-E987-AAB8603FF7A4}"/>
              </a:ext>
            </a:extLst>
          </p:cNvPr>
          <p:cNvSpPr txBox="1"/>
          <p:nvPr/>
        </p:nvSpPr>
        <p:spPr>
          <a:xfrm>
            <a:off x="5997387" y="1438426"/>
            <a:ext cx="5701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Queste regole costituiscono un indice per la prevenzione da abbandono per la banca.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Monitorando queste feature per ogni cliente e organizzando misure preventive in queste fasce di clienti si può provare a contrastare il tasso di abbandono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Sono state ritrovate altre regole associative di minore utilità e forza</a:t>
            </a:r>
          </a:p>
        </p:txBody>
      </p:sp>
    </p:spTree>
    <p:extLst>
      <p:ext uri="{BB962C8B-B14F-4D97-AF65-F5344CB8AC3E}">
        <p14:creationId xmlns:p14="http://schemas.microsoft.com/office/powerpoint/2010/main" val="4203358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83FE4D5-6F38-98F4-1F85-3E3FBB4E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53"/>
            <a:ext cx="10348146" cy="975937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Classificazione: </a:t>
            </a:r>
            <a:r>
              <a:rPr lang="it-IT" dirty="0" err="1">
                <a:solidFill>
                  <a:schemeClr val="accent1">
                    <a:lumMod val="75000"/>
                  </a:schemeClr>
                </a:solidFill>
              </a:rPr>
              <a:t>Imbalance</a:t>
            </a: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B5546B1-7CA0-01E1-F423-99AD7CDFBC07}"/>
              </a:ext>
            </a:extLst>
          </p:cNvPr>
          <p:cNvSpPr txBox="1"/>
          <p:nvPr/>
        </p:nvSpPr>
        <p:spPr>
          <a:xfrm>
            <a:off x="1371601" y="700656"/>
            <a:ext cx="94438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>
                    <a:lumMod val="50000"/>
                  </a:schemeClr>
                </a:solidFill>
              </a:rPr>
              <a:t>Preprocessing</a:t>
            </a:r>
            <a:endParaRPr lang="it-IT" b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Rimozione </a:t>
            </a:r>
            <a:r>
              <a:rPr lang="it-IT" sz="1600" dirty="0" err="1">
                <a:solidFill>
                  <a:schemeClr val="bg1">
                    <a:lumMod val="50000"/>
                  </a:schemeClr>
                </a:solidFill>
              </a:rPr>
              <a:t>outliers</a:t>
            </a:r>
            <a:endParaRPr lang="it-IT" sz="16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Rimozione variabili con alta </a:t>
            </a:r>
            <a:r>
              <a:rPr lang="it-IT" sz="1600" dirty="0" err="1">
                <a:solidFill>
                  <a:schemeClr val="bg1">
                    <a:lumMod val="50000"/>
                  </a:schemeClr>
                </a:solidFill>
              </a:rPr>
              <a:t>colinearità</a:t>
            </a:r>
            <a:endParaRPr lang="it-IT" sz="16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Standardizzazione delle feature numeriche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chemeClr val="bg1">
                    <a:lumMod val="50000"/>
                  </a:schemeClr>
                </a:solidFill>
              </a:rPr>
              <a:t>OneHot</a:t>
            </a: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 Encoding per variabili categoriche senza ordinamento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chemeClr val="bg1">
                    <a:lumMod val="50000"/>
                  </a:schemeClr>
                </a:solidFill>
              </a:rPr>
              <a:t>Ordinal</a:t>
            </a: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 Encoder per </a:t>
            </a:r>
            <a:r>
              <a:rPr lang="it-IT" sz="1600" dirty="0" err="1">
                <a:solidFill>
                  <a:schemeClr val="bg1">
                    <a:lumMod val="50000"/>
                  </a:schemeClr>
                </a:solidFill>
              </a:rPr>
              <a:t>varibili</a:t>
            </a:r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 intere e categoriche con ordinamento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F5865C-5034-3F8A-6998-1580CD8B6DE4}"/>
              </a:ext>
            </a:extLst>
          </p:cNvPr>
          <p:cNvSpPr txBox="1"/>
          <p:nvPr/>
        </p:nvSpPr>
        <p:spPr>
          <a:xfrm>
            <a:off x="1371601" y="2326758"/>
            <a:ext cx="1059679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Approcci per lo sbilanciamento del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Baseline pesi differenti per le classi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Tomek</a:t>
            </a:r>
            <a:r>
              <a:rPr lang="it-IT" sz="1600" dirty="0"/>
              <a:t> Links: ripulisce andando ad aumentare il più possibile il confine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NearMiss</a:t>
            </a:r>
            <a:r>
              <a:rPr lang="it-IT" sz="1600" dirty="0"/>
              <a:t>: conserva esempi più difficili, cerca di pulire i confini di decisione e </a:t>
            </a:r>
            <a:r>
              <a:rPr lang="it-IT" sz="1600" dirty="0" err="1"/>
              <a:t>undersampling</a:t>
            </a:r>
            <a:r>
              <a:rPr lang="it-IT" sz="1600" dirty="0"/>
              <a:t> maggioritario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Random </a:t>
            </a:r>
            <a:r>
              <a:rPr lang="it-IT" sz="1600" dirty="0" err="1"/>
              <a:t>undersampling</a:t>
            </a:r>
            <a:r>
              <a:rPr lang="it-IT" sz="1600" dirty="0"/>
              <a:t> + Ensemble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SMOTE + under sampling maggioritaria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4E2328-EBB7-699E-AD57-76DF8902A342}"/>
              </a:ext>
            </a:extLst>
          </p:cNvPr>
          <p:cNvSpPr txBox="1"/>
          <p:nvPr/>
        </p:nvSpPr>
        <p:spPr>
          <a:xfrm>
            <a:off x="1948098" y="3948763"/>
            <a:ext cx="944380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</a:rPr>
              <a:t>Addestramento &amp; Ottimizzazione del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/>
                </a:solidFill>
              </a:rPr>
              <a:t>K-</a:t>
            </a:r>
            <a:r>
              <a:rPr lang="it-IT" sz="1600" dirty="0" err="1">
                <a:solidFill>
                  <a:schemeClr val="accent1"/>
                </a:solidFill>
              </a:rPr>
              <a:t>fold</a:t>
            </a:r>
            <a:r>
              <a:rPr lang="it-IT" sz="1600" dirty="0">
                <a:solidFill>
                  <a:schemeClr val="accent1"/>
                </a:solidFill>
              </a:rPr>
              <a:t> stratificata a 5 </a:t>
            </a:r>
            <a:r>
              <a:rPr lang="it-IT" sz="1600" dirty="0" err="1">
                <a:solidFill>
                  <a:schemeClr val="accent1"/>
                </a:solidFill>
              </a:rPr>
              <a:t>fold</a:t>
            </a:r>
            <a:endParaRPr lang="it-IT" sz="16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chemeClr val="accent1"/>
                </a:solidFill>
              </a:rPr>
              <a:t>Wrapper</a:t>
            </a:r>
            <a:r>
              <a:rPr lang="it-IT" sz="1600" dirty="0">
                <a:solidFill>
                  <a:schemeClr val="accent1"/>
                </a:solidFill>
              </a:rPr>
              <a:t> Method per feature </a:t>
            </a:r>
            <a:r>
              <a:rPr lang="it-IT" sz="1600" dirty="0" err="1">
                <a:solidFill>
                  <a:schemeClr val="accent1"/>
                </a:solidFill>
              </a:rPr>
              <a:t>selection</a:t>
            </a:r>
            <a:r>
              <a:rPr lang="it-IT" sz="1600" dirty="0">
                <a:solidFill>
                  <a:schemeClr val="accent1"/>
                </a:solidFill>
              </a:rPr>
              <a:t> basata su ottimizzazione del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/>
                </a:solidFill>
              </a:rPr>
              <a:t>Selezione dei due migliori approcci per lo sbilanciamento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/>
                </a:solidFill>
              </a:rPr>
              <a:t>Algoritmo di classificazione usato: Random </a:t>
            </a:r>
            <a:r>
              <a:rPr lang="it-IT" sz="1600" dirty="0" err="1">
                <a:solidFill>
                  <a:schemeClr val="accent1"/>
                </a:solidFill>
              </a:rPr>
              <a:t>Forest</a:t>
            </a:r>
            <a:endParaRPr lang="it-IT" sz="1600" dirty="0">
              <a:solidFill>
                <a:schemeClr val="accent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A0BAFC-8FE5-C719-C107-4DE02549E0C0}"/>
              </a:ext>
            </a:extLst>
          </p:cNvPr>
          <p:cNvSpPr txBox="1"/>
          <p:nvPr/>
        </p:nvSpPr>
        <p:spPr>
          <a:xfrm>
            <a:off x="1945050" y="5289923"/>
            <a:ext cx="944380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accent1">
                    <a:lumMod val="75000"/>
                  </a:schemeClr>
                </a:solidFill>
              </a:rPr>
              <a:t>Valutazione delle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chemeClr val="accent1">
                    <a:lumMod val="75000"/>
                  </a:schemeClr>
                </a:solidFill>
              </a:rPr>
              <a:t>Classification</a:t>
            </a:r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 report con le principali metriche per la classificazione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Recall come prima scelta per la selezione del miglior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ROC-AUC per classificare il miglior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F1 score per valutazione complessiva su entrambe le classi</a:t>
            </a:r>
          </a:p>
        </p:txBody>
      </p:sp>
      <p:pic>
        <p:nvPicPr>
          <p:cNvPr id="11" name="Immagine 10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850FB048-D95C-33C5-7EEA-EF0F0C33C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411" y="5051275"/>
            <a:ext cx="3786455" cy="37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5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FABF4C6-5833-BC65-A56F-BAD5C082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702" y="543735"/>
            <a:ext cx="9758596" cy="159384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B963409-1E6D-41A1-E353-BBC5C065C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67" y="4993888"/>
            <a:ext cx="10568066" cy="174427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2534D8A-1880-2C69-581D-F37F452AE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44" y="2266641"/>
            <a:ext cx="5142615" cy="259818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50DBA1E-F019-DA15-FC92-CBCB46345E48}"/>
              </a:ext>
            </a:extLst>
          </p:cNvPr>
          <p:cNvSpPr txBox="1"/>
          <p:nvPr/>
        </p:nvSpPr>
        <p:spPr>
          <a:xfrm>
            <a:off x="2630279" y="119921"/>
            <a:ext cx="625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Approcci per il trattamento dello sbilanciamento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17AC656-2A63-D3BF-519E-2576F61DAD9B}"/>
              </a:ext>
            </a:extLst>
          </p:cNvPr>
          <p:cNvSpPr txBox="1"/>
          <p:nvPr/>
        </p:nvSpPr>
        <p:spPr>
          <a:xfrm>
            <a:off x="6096000" y="2518348"/>
            <a:ext cx="5071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Quasi stabilità tra baseline, </a:t>
            </a:r>
            <a:r>
              <a:rPr lang="it-IT" dirty="0" err="1">
                <a:solidFill>
                  <a:schemeClr val="bg1"/>
                </a:solidFill>
              </a:rPr>
              <a:t>tomek</a:t>
            </a:r>
            <a:r>
              <a:rPr lang="it-IT" dirty="0">
                <a:solidFill>
                  <a:schemeClr val="bg1"/>
                </a:solidFill>
              </a:rPr>
              <a:t> links e </a:t>
            </a:r>
            <a:r>
              <a:rPr lang="it-IT" dirty="0" err="1">
                <a:solidFill>
                  <a:schemeClr val="bg1"/>
                </a:solidFill>
              </a:rPr>
              <a:t>smote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Distacco chiaro tramite recall per </a:t>
            </a:r>
            <a:r>
              <a:rPr lang="it-IT" dirty="0" err="1">
                <a:solidFill>
                  <a:schemeClr val="bg1"/>
                </a:solidFill>
              </a:rPr>
              <a:t>nearmiss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Massimizziamo il recall perché sbagliare classificano un cliente come abbandono pur non essendolo ha un costo minore rispetto a non intercettare l’abbandono</a:t>
            </a:r>
          </a:p>
        </p:txBody>
      </p:sp>
    </p:spTree>
    <p:extLst>
      <p:ext uri="{BB962C8B-B14F-4D97-AF65-F5344CB8AC3E}">
        <p14:creationId xmlns:p14="http://schemas.microsoft.com/office/powerpoint/2010/main" val="2836292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EC8AB725-3AC3-8BE3-21AF-34C670E4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463" y="2953062"/>
            <a:ext cx="7959778" cy="355183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407844D-1169-8DF9-8AB1-1A007D6C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0" y="4108137"/>
            <a:ext cx="3137941" cy="261495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EA89DF1-BAA0-B290-E050-B4936534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50" y="1442387"/>
            <a:ext cx="3137941" cy="261495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A851900-B223-7E0E-F821-173668382C15}"/>
              </a:ext>
            </a:extLst>
          </p:cNvPr>
          <p:cNvSpPr txBox="1"/>
          <p:nvPr/>
        </p:nvSpPr>
        <p:spPr>
          <a:xfrm>
            <a:off x="1718872" y="134912"/>
            <a:ext cx="8754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</a:rPr>
              <a:t>Ottimizzazione dei modelli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E0701AE-6590-381A-DA2C-26B2D5219ACA}"/>
              </a:ext>
            </a:extLst>
          </p:cNvPr>
          <p:cNvSpPr txBox="1"/>
          <p:nvPr/>
        </p:nvSpPr>
        <p:spPr>
          <a:xfrm>
            <a:off x="4137285" y="1004341"/>
            <a:ext cx="76899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/>
                </a:solidFill>
              </a:rPr>
              <a:t>Solo i migliori 2 modelli per recall sono stati ottimizzati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/>
                </a:solidFill>
              </a:rPr>
              <a:t>Si preferisce il </a:t>
            </a:r>
            <a:r>
              <a:rPr lang="it-IT" sz="1600" dirty="0" err="1">
                <a:solidFill>
                  <a:schemeClr val="bg1"/>
                </a:solidFill>
              </a:rPr>
              <a:t>NearMiss</a:t>
            </a:r>
            <a:r>
              <a:rPr lang="it-IT" sz="1600" dirty="0">
                <a:solidFill>
                  <a:schemeClr val="bg1"/>
                </a:solidFill>
              </a:rPr>
              <a:t> in quanto il recall è di maggiore interesse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/>
                </a:solidFill>
              </a:rPr>
              <a:t>Ad ogni modo entrambi i modelli sono conformi agli obiettivi di data mining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/>
                </a:solidFill>
              </a:rPr>
              <a:t>Entrambi superano il </a:t>
            </a:r>
            <a:r>
              <a:rPr lang="it-IT" sz="1600" dirty="0" err="1">
                <a:solidFill>
                  <a:schemeClr val="bg1"/>
                </a:solidFill>
              </a:rPr>
              <a:t>Roc-Auc</a:t>
            </a:r>
            <a:r>
              <a:rPr lang="it-IT" sz="1600" dirty="0">
                <a:solidFill>
                  <a:schemeClr val="bg1"/>
                </a:solidFill>
              </a:rPr>
              <a:t> score previsto del 90% , ma solo </a:t>
            </a:r>
            <a:r>
              <a:rPr lang="it-IT" sz="1600" dirty="0" err="1">
                <a:solidFill>
                  <a:schemeClr val="bg1"/>
                </a:solidFill>
              </a:rPr>
              <a:t>NearMiss</a:t>
            </a:r>
            <a:r>
              <a:rPr lang="it-IT" sz="1600" dirty="0">
                <a:solidFill>
                  <a:schemeClr val="bg1"/>
                </a:solidFill>
              </a:rPr>
              <a:t> supera 85% di recall toccando il 92% anche se l’atro ha un 82%</a:t>
            </a:r>
          </a:p>
        </p:txBody>
      </p:sp>
    </p:spTree>
    <p:extLst>
      <p:ext uri="{BB962C8B-B14F-4D97-AF65-F5344CB8AC3E}">
        <p14:creationId xmlns:p14="http://schemas.microsoft.com/office/powerpoint/2010/main" val="1728144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6A4C79-62F0-4DFD-A156-0F1AB7D26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0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7FF257-5D01-4829-AD0B-B2D6076B3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E3D5C5-1A0A-8726-862B-9C00C0FE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66800"/>
            <a:ext cx="5410200" cy="19970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Conclusioni finali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0AAC5C5-5D54-2644-7B5A-C002866B1F72}"/>
              </a:ext>
            </a:extLst>
          </p:cNvPr>
          <p:cNvSpPr txBox="1"/>
          <p:nvPr/>
        </p:nvSpPr>
        <p:spPr>
          <a:xfrm>
            <a:off x="1143000" y="3200400"/>
            <a:ext cx="54102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I due modelli sono entrambi funzionanti rappresentano il raggiungimento degli obbiettivi di data mining</a:t>
            </a:r>
          </a:p>
          <a:p>
            <a:pPr marL="28575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Si necessita monitoraggio attivo dei modelli sui nuovi dati e riaddestramento sui nuovi dati raccolti ad ogni semestre</a:t>
            </a:r>
          </a:p>
          <a:p>
            <a:pPr marL="28575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La banca monitorerà la conformità con i suoi obiettivi aziendali e offrirà il feedback</a:t>
            </a:r>
          </a:p>
          <a:p>
            <a:pPr marL="28575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Con la raccolta di maggiori feature di interesse per l’ente bancario si potrebbero effettuare delle analisi aggiuntive in futuro</a:t>
            </a:r>
          </a:p>
        </p:txBody>
      </p:sp>
      <p:pic>
        <p:nvPicPr>
          <p:cNvPr id="6" name="Immagine 5" descr="Immagine che contiene cerchio, emblema, disegno, arte&#10;&#10;Il contenuto generato dall'IA potrebbe non essere corretto.">
            <a:extLst>
              <a:ext uri="{FF2B5EF4-FFF2-40B4-BE49-F238E27FC236}">
                <a16:creationId xmlns:a16="http://schemas.microsoft.com/office/drawing/2014/main" id="{37019CE6-23AE-3D63-D4C6-2846E910F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152" y="1345236"/>
            <a:ext cx="4490874" cy="444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55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B614023-3F38-44EB-8ABB-B52E5B9E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5F9310-ED3E-45B9-9D97-AC0F2C890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Immagine 4" descr="Immagine che contiene schermata, grafica, Elementi grafici, Magenta&#10;&#10;Il contenuto generato dall'IA potrebbe non essere corretto.">
            <a:extLst>
              <a:ext uri="{FF2B5EF4-FFF2-40B4-BE49-F238E27FC236}">
                <a16:creationId xmlns:a16="http://schemas.microsoft.com/office/drawing/2014/main" id="{5DEE0339-0F3F-4057-B337-64C9337A4E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5252" r="4064"/>
          <a:stretch>
            <a:fillRect/>
          </a:stretch>
        </p:blipFill>
        <p:spPr>
          <a:xfrm>
            <a:off x="-5355" y="1376"/>
            <a:ext cx="12191980" cy="685662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3124261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E63A8F-7CBC-BBAF-BE49-66310A1A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531" y="2683239"/>
            <a:ext cx="4236256" cy="1392401"/>
          </a:xfrm>
          <a:solidFill>
            <a:schemeClr val="bg1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Fine </a:t>
            </a:r>
            <a:r>
              <a:rPr lang="en-US" sz="2800" dirty="0" err="1">
                <a:solidFill>
                  <a:schemeClr val="accent1"/>
                </a:solidFill>
              </a:rPr>
              <a:t>della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presentazione</a:t>
            </a:r>
            <a:br>
              <a:rPr lang="en-US" sz="2000" dirty="0">
                <a:solidFill>
                  <a:schemeClr val="accent1"/>
                </a:solidFill>
              </a:rPr>
            </a:b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a cura di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Diego Miccoli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85804102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1087</Words>
  <Application>Microsoft Macintosh PowerPoint</Application>
  <PresentationFormat>Widescreen</PresentationFormat>
  <Paragraphs>141</Paragraphs>
  <Slides>21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Aptos</vt:lpstr>
      <vt:lpstr>Arial</vt:lpstr>
      <vt:lpstr>Avenir Next LT Pro</vt:lpstr>
      <vt:lpstr>AvenirNext LT Pro Medium</vt:lpstr>
      <vt:lpstr>Wingdings</vt:lpstr>
      <vt:lpstr>BlockprintVTI</vt:lpstr>
      <vt:lpstr>Analisi dell’abbandono bancario </vt:lpstr>
      <vt:lpstr>Bussiness Understanding</vt:lpstr>
      <vt:lpstr>Bussiness Understanding</vt:lpstr>
      <vt:lpstr>Data Understanding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Cluster Analysis</vt:lpstr>
      <vt:lpstr>Presentazione standard di PowerPoint</vt:lpstr>
      <vt:lpstr>Presentazione standard di PowerPoint</vt:lpstr>
      <vt:lpstr>Frequent Pattern Mining</vt:lpstr>
      <vt:lpstr>Regole Associative Forti Ritrovate</vt:lpstr>
      <vt:lpstr>Classificazione: Imbalance learning</vt:lpstr>
      <vt:lpstr>Presentazione standard di PowerPoint</vt:lpstr>
      <vt:lpstr>Presentazione standard di PowerPoint</vt:lpstr>
      <vt:lpstr>Conclusioni finali</vt:lpstr>
      <vt:lpstr>Fine della presentazione  a cura di Diego Miccoli Data Scientist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MICCOLI</dc:creator>
  <cp:lastModifiedBy>DIEGO MICCOLI</cp:lastModifiedBy>
  <cp:revision>34</cp:revision>
  <dcterms:created xsi:type="dcterms:W3CDTF">2025-10-08T18:58:26Z</dcterms:created>
  <dcterms:modified xsi:type="dcterms:W3CDTF">2025-10-16T08:30:13Z</dcterms:modified>
</cp:coreProperties>
</file>